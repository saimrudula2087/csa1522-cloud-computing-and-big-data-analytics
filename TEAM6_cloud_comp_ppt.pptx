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4" r:id="rId5"/>
    <p:sldId id="265" r:id="rId6"/>
    <p:sldId id="266" r:id="rId7"/>
    <p:sldId id="267" r:id="rId8"/>
    <p:sldId id="260" r:id="rId9"/>
    <p:sldId id="268" r:id="rId10"/>
    <p:sldId id="269" r:id="rId11"/>
    <p:sldId id="278" r:id="rId12"/>
    <p:sldId id="271" r:id="rId13"/>
    <p:sldId id="270" r:id="rId14"/>
    <p:sldId id="273" r:id="rId15"/>
    <p:sldId id="274" r:id="rId16"/>
    <p:sldId id="279" r:id="rId17"/>
    <p:sldId id="275" r:id="rId18"/>
    <p:sldId id="276" r:id="rId19"/>
    <p:sldId id="277" r:id="rId20"/>
    <p:sldId id="261" r:id="rId21"/>
    <p:sldId id="262" r:id="rId22"/>
    <p:sldId id="26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E54294-ED68-4608-94BF-60316E76F2DD}" v="2" dt="2026-08-27T06:24:20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udula sai" userId="d5ecc9134dbdd362" providerId="LiveId" clId="{B1F96EEB-6A16-4604-88BE-D05B43F411FC}"/>
    <pc:docChg chg="custSel modSld">
      <pc:chgData name="mrudula sai" userId="d5ecc9134dbdd362" providerId="LiveId" clId="{B1F96EEB-6A16-4604-88BE-D05B43F411FC}" dt="2026-08-31T15:35:58.705" v="93" actId="12"/>
      <pc:docMkLst>
        <pc:docMk/>
      </pc:docMkLst>
      <pc:sldChg chg="addSp modSp mod">
        <pc:chgData name="mrudula sai" userId="d5ecc9134dbdd362" providerId="LiveId" clId="{B1F96EEB-6A16-4604-88BE-D05B43F411FC}" dt="2026-08-27T06:25:08.711" v="62" actId="1076"/>
        <pc:sldMkLst>
          <pc:docMk/>
          <pc:sldMk cId="3425259356" sldId="257"/>
        </pc:sldMkLst>
        <pc:spChg chg="mod">
          <ac:chgData name="mrudula sai" userId="d5ecc9134dbdd362" providerId="LiveId" clId="{B1F96EEB-6A16-4604-88BE-D05B43F411FC}" dt="2026-08-27T06:25:08.711" v="62" actId="1076"/>
          <ac:spMkLst>
            <pc:docMk/>
            <pc:sldMk cId="3425259356" sldId="257"/>
            <ac:spMk id="3" creationId="{00000000-0000-0000-0000-000000000000}"/>
          </ac:spMkLst>
        </pc:spChg>
        <pc:spChg chg="mod">
          <ac:chgData name="mrudula sai" userId="d5ecc9134dbdd362" providerId="LiveId" clId="{B1F96EEB-6A16-4604-88BE-D05B43F411FC}" dt="2026-08-27T06:24:30.004" v="56" actId="1076"/>
          <ac:spMkLst>
            <pc:docMk/>
            <pc:sldMk cId="3425259356" sldId="257"/>
            <ac:spMk id="4" creationId="{00000000-0000-0000-0000-000000000000}"/>
          </ac:spMkLst>
        </pc:spChg>
        <pc:spChg chg="mod">
          <ac:chgData name="mrudula sai" userId="d5ecc9134dbdd362" providerId="LiveId" clId="{B1F96EEB-6A16-4604-88BE-D05B43F411FC}" dt="2026-08-27T06:24:24.881" v="55" actId="1076"/>
          <ac:spMkLst>
            <pc:docMk/>
            <pc:sldMk cId="3425259356" sldId="257"/>
            <ac:spMk id="5" creationId="{00000000-0000-0000-0000-000000000000}"/>
          </ac:spMkLst>
        </pc:spChg>
        <pc:spChg chg="add mod">
          <ac:chgData name="mrudula sai" userId="d5ecc9134dbdd362" providerId="LiveId" clId="{B1F96EEB-6A16-4604-88BE-D05B43F411FC}" dt="2026-08-27T06:24:57.876" v="61" actId="1076"/>
          <ac:spMkLst>
            <pc:docMk/>
            <pc:sldMk cId="3425259356" sldId="257"/>
            <ac:spMk id="6" creationId="{AA6DE17E-C158-AF6E-2273-71FBADA1E4DA}"/>
          </ac:spMkLst>
        </pc:spChg>
      </pc:sldChg>
      <pc:sldChg chg="modSp mod">
        <pc:chgData name="mrudula sai" userId="d5ecc9134dbdd362" providerId="LiveId" clId="{B1F96EEB-6A16-4604-88BE-D05B43F411FC}" dt="2026-08-31T15:35:58.705" v="93" actId="12"/>
        <pc:sldMkLst>
          <pc:docMk/>
          <pc:sldMk cId="1543041960" sldId="261"/>
        </pc:sldMkLst>
        <pc:spChg chg="mod">
          <ac:chgData name="mrudula sai" userId="d5ecc9134dbdd362" providerId="LiveId" clId="{B1F96EEB-6A16-4604-88BE-D05B43F411FC}" dt="2026-08-31T15:35:58.705" v="93" actId="12"/>
          <ac:spMkLst>
            <pc:docMk/>
            <pc:sldMk cId="1543041960" sldId="261"/>
            <ac:spMk id="5" creationId="{00000000-0000-0000-0000-000000000000}"/>
          </ac:spMkLst>
        </pc:spChg>
      </pc:sldChg>
      <pc:sldChg chg="modSp mod">
        <pc:chgData name="mrudula sai" userId="d5ecc9134dbdd362" providerId="LiveId" clId="{B1F96EEB-6A16-4604-88BE-D05B43F411FC}" dt="2026-08-31T15:35:13.766" v="87" actId="20577"/>
        <pc:sldMkLst>
          <pc:docMk/>
          <pc:sldMk cId="2683845503" sldId="266"/>
        </pc:sldMkLst>
        <pc:graphicFrameChg chg="modGraphic">
          <ac:chgData name="mrudula sai" userId="d5ecc9134dbdd362" providerId="LiveId" clId="{B1F96EEB-6A16-4604-88BE-D05B43F411FC}" dt="2026-08-31T15:35:13.766" v="87" actId="20577"/>
          <ac:graphicFrameMkLst>
            <pc:docMk/>
            <pc:sldMk cId="2683845503" sldId="266"/>
            <ac:graphicFrameMk id="8" creationId="{00000000-0000-0000-0000-000000000000}"/>
          </ac:graphicFrameMkLst>
        </pc:graphicFrameChg>
      </pc:sldChg>
      <pc:sldChg chg="modSp mod">
        <pc:chgData name="mrudula sai" userId="d5ecc9134dbdd362" providerId="LiveId" clId="{B1F96EEB-6A16-4604-88BE-D05B43F411FC}" dt="2026-08-31T15:35:48.025" v="91" actId="12"/>
        <pc:sldMkLst>
          <pc:docMk/>
          <pc:sldMk cId="4123881742" sldId="276"/>
        </pc:sldMkLst>
        <pc:spChg chg="mod">
          <ac:chgData name="mrudula sai" userId="d5ecc9134dbdd362" providerId="LiveId" clId="{B1F96EEB-6A16-4604-88BE-D05B43F411FC}" dt="2026-08-31T15:35:48.025" v="91" actId="12"/>
          <ac:spMkLst>
            <pc:docMk/>
            <pc:sldMk cId="4123881742" sldId="276"/>
            <ac:spMk id="6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9AC735-08E3-4DC6-8702-892EE7A4B072}" type="doc">
      <dgm:prSet loTypeId="urn:microsoft.com/office/officeart/2005/8/layout/bProcess3" loCatId="process" qsTypeId="urn:microsoft.com/office/officeart/2005/8/quickstyle/simple1#1" qsCatId="simple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60E9FF69-569F-4B69-9849-6D46C10B2331}">
      <dgm:prSet phldrT="[Text]" custT="1"/>
      <dgm:spPr/>
      <dgm:t>
        <a:bodyPr/>
        <a:lstStyle/>
        <a:p>
          <a:r>
            <a:rPr lang="en-IN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 Data Collection</a:t>
          </a:r>
        </a:p>
        <a:p>
          <a:r>
            <a:rPr 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Collects posts, comments , </a:t>
          </a:r>
          <a:r>
            <a:rPr lang="en-US" sz="1600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hastags</a:t>
          </a:r>
          <a:r>
            <a:rPr 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 and relevant data</a:t>
          </a:r>
          <a:endParaRPr lang="en-IN" sz="16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CF62C66-F4FD-470E-9F0D-E711519475C5}" type="parTrans" cxnId="{CD994675-5BDA-4D9E-914D-A5AC69BC9336}">
      <dgm:prSet/>
      <dgm:spPr/>
      <dgm:t>
        <a:bodyPr/>
        <a:lstStyle/>
        <a:p>
          <a:endParaRPr lang="en-IN"/>
        </a:p>
      </dgm:t>
    </dgm:pt>
    <dgm:pt modelId="{F37C0496-95B2-4E02-B171-1B18F04C335F}" type="sibTrans" cxnId="{CD994675-5BDA-4D9E-914D-A5AC69BC9336}">
      <dgm:prSet/>
      <dgm:spPr/>
      <dgm:t>
        <a:bodyPr/>
        <a:lstStyle/>
        <a:p>
          <a:endParaRPr lang="en-IN" b="0"/>
        </a:p>
      </dgm:t>
    </dgm:pt>
    <dgm:pt modelId="{B8427850-986D-4739-AF8D-3E5878DDA68A}">
      <dgm:prSet phldrT="[Text]"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Big data processing</a:t>
          </a:r>
          <a:b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b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process large scale dataset using apache spark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8DA4BD6-561C-45E8-AD10-98F49EFE3B22}" type="parTrans" cxnId="{B9E5AA6C-A0E2-48F0-A9EC-D7E00F4DD0D0}">
      <dgm:prSet/>
      <dgm:spPr/>
      <dgm:t>
        <a:bodyPr/>
        <a:lstStyle/>
        <a:p>
          <a:endParaRPr lang="en-IN"/>
        </a:p>
      </dgm:t>
    </dgm:pt>
    <dgm:pt modelId="{7B0EA66C-C5A6-49F0-9ED9-3730A6991521}" type="sibTrans" cxnId="{B9E5AA6C-A0E2-48F0-A9EC-D7E00F4DD0D0}">
      <dgm:prSet/>
      <dgm:spPr/>
      <dgm:t>
        <a:bodyPr/>
        <a:lstStyle/>
        <a:p>
          <a:endParaRPr lang="en-IN"/>
        </a:p>
      </dgm:t>
    </dgm:pt>
    <dgm:pt modelId="{976BD65C-1D2F-4316-A36B-543AA8C927D4}">
      <dgm:prSet phldrT="[Text]" custT="1"/>
      <dgm:spPr/>
      <dgm:t>
        <a:bodyPr/>
        <a:lstStyle/>
        <a:p>
          <a:r>
            <a:rPr 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Sentiment Analysis</a:t>
          </a:r>
          <a:br>
            <a:rPr 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br>
            <a:rPr 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Apply NLP techniques to classify text as Positive, Negative, Neutral</a:t>
          </a:r>
          <a:endParaRPr lang="en-IN" sz="16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72E7B1A-1213-430E-A725-95CE2B99296A}" type="parTrans" cxnId="{ADE5FD36-7EC8-47D3-AF58-5E4FB1D86A59}">
      <dgm:prSet/>
      <dgm:spPr/>
      <dgm:t>
        <a:bodyPr/>
        <a:lstStyle/>
        <a:p>
          <a:endParaRPr lang="en-IN"/>
        </a:p>
      </dgm:t>
    </dgm:pt>
    <dgm:pt modelId="{BD7FAAD0-202C-4205-B6F1-CC9B50E95EF1}" type="sibTrans" cxnId="{ADE5FD36-7EC8-47D3-AF58-5E4FB1D86A59}">
      <dgm:prSet/>
      <dgm:spPr/>
      <dgm:t>
        <a:bodyPr/>
        <a:lstStyle/>
        <a:p>
          <a:endParaRPr lang="en-IN"/>
        </a:p>
      </dgm:t>
    </dgm:pt>
    <dgm:pt modelId="{F30FF063-0FAD-4670-AFC5-AF1D8EC4B740}">
      <dgm:prSet phldrT="[Text]"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Data Aggregation</a:t>
          </a:r>
          <a:b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b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Calculate Sentiment counts, percentage, trends, and keywords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7961122-DF3A-4944-9790-03534E960D79}" type="parTrans" cxnId="{89B5573D-C09A-43DA-BBD1-D9C2842E2443}">
      <dgm:prSet/>
      <dgm:spPr/>
      <dgm:t>
        <a:bodyPr/>
        <a:lstStyle/>
        <a:p>
          <a:endParaRPr lang="en-IN"/>
        </a:p>
      </dgm:t>
    </dgm:pt>
    <dgm:pt modelId="{F4362B8D-6256-4F87-82BC-A8ABD72E4571}" type="sibTrans" cxnId="{89B5573D-C09A-43DA-BBD1-D9C2842E2443}">
      <dgm:prSet/>
      <dgm:spPr/>
      <dgm:t>
        <a:bodyPr/>
        <a:lstStyle/>
        <a:p>
          <a:endParaRPr lang="en-IN"/>
        </a:p>
      </dgm:t>
    </dgm:pt>
    <dgm:pt modelId="{6B11070A-1D40-4589-979E-9B175CB74A9A}">
      <dgm:prSet phldrT="[Text]" custT="1"/>
      <dgm:spPr/>
      <dgm:t>
        <a:bodyPr/>
        <a:lstStyle/>
        <a:p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Visualisation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b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b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Present the processed insights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5EEF641-00E1-4FF7-8E01-CCB95F58CBF1}" type="parTrans" cxnId="{DA0981F7-B084-4A7A-A98B-4CD6874BB99D}">
      <dgm:prSet/>
      <dgm:spPr/>
      <dgm:t>
        <a:bodyPr/>
        <a:lstStyle/>
        <a:p>
          <a:endParaRPr lang="en-IN"/>
        </a:p>
      </dgm:t>
    </dgm:pt>
    <dgm:pt modelId="{68E440D0-3473-422F-B6E2-79A7C8CEBACE}" type="sibTrans" cxnId="{DA0981F7-B084-4A7A-A98B-4CD6874BB99D}">
      <dgm:prSet/>
      <dgm:spPr/>
      <dgm:t>
        <a:bodyPr/>
        <a:lstStyle/>
        <a:p>
          <a:endParaRPr lang="en-IN"/>
        </a:p>
      </dgm:t>
    </dgm:pt>
    <dgm:pt modelId="{0BD153BE-6B48-42C2-BF2B-44A80C450D03}">
      <dgm:prSet phldrT="[Text]" custT="1"/>
      <dgm:spPr/>
      <dgm:t>
        <a:bodyPr/>
        <a:lstStyle/>
        <a:p>
          <a:pPr algn="ctr"/>
          <a:endParaRPr lang="en-IN" sz="16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ctr"/>
          <a:r>
            <a:rPr lang="en-IN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Preprocessing</a:t>
          </a:r>
          <a:br>
            <a:rPr lang="en-IN" sz="16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br>
            <a:rPr lang="en-IN" sz="16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>clean and normalise the collected data</a:t>
          </a:r>
          <a:br>
            <a:rPr lang="en-IN" sz="16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1600" b="0" dirty="0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br>
            <a:rPr lang="en-IN" sz="16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6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B2B3569-C68C-47C9-B09E-63850EEA8804}" type="parTrans" cxnId="{C233C47C-85BA-45E0-91A9-6BE345C36444}">
      <dgm:prSet/>
      <dgm:spPr/>
      <dgm:t>
        <a:bodyPr/>
        <a:lstStyle/>
        <a:p>
          <a:endParaRPr lang="en-IN"/>
        </a:p>
      </dgm:t>
    </dgm:pt>
    <dgm:pt modelId="{CBA45BB2-DF57-4DB3-814E-157A1672639E}" type="sibTrans" cxnId="{C233C47C-85BA-45E0-91A9-6BE345C36444}">
      <dgm:prSet/>
      <dgm:spPr/>
      <dgm:t>
        <a:bodyPr/>
        <a:lstStyle/>
        <a:p>
          <a:endParaRPr lang="en-IN"/>
        </a:p>
      </dgm:t>
    </dgm:pt>
    <dgm:pt modelId="{965CF91D-C262-46BD-9541-706FEBC0298A}" type="pres">
      <dgm:prSet presAssocID="{AB9AC735-08E3-4DC6-8702-892EE7A4B072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6713F287-923A-4167-842E-E3C65400C220}" type="pres">
      <dgm:prSet presAssocID="{60E9FF69-569F-4B69-9849-6D46C10B2331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96121FF-9C0C-4C90-BD50-0A7853AFA79A}" type="pres">
      <dgm:prSet presAssocID="{F37C0496-95B2-4E02-B171-1B18F04C335F}" presName="sibTrans" presStyleLbl="sibTrans1D1" presStyleIdx="0" presStyleCnt="5"/>
      <dgm:spPr/>
      <dgm:t>
        <a:bodyPr/>
        <a:lstStyle/>
        <a:p>
          <a:endParaRPr lang="en-IN"/>
        </a:p>
      </dgm:t>
    </dgm:pt>
    <dgm:pt modelId="{8F1951CF-D0EA-4FF7-AE38-89B2401DE8AE}" type="pres">
      <dgm:prSet presAssocID="{F37C0496-95B2-4E02-B171-1B18F04C335F}" presName="connectorText" presStyleLbl="sibTrans1D1" presStyleIdx="0" presStyleCnt="5"/>
      <dgm:spPr/>
      <dgm:t>
        <a:bodyPr/>
        <a:lstStyle/>
        <a:p>
          <a:endParaRPr lang="en-IN"/>
        </a:p>
      </dgm:t>
    </dgm:pt>
    <dgm:pt modelId="{6BC00B8F-DE18-458E-95DB-98A877655F7B}" type="pres">
      <dgm:prSet presAssocID="{0BD153BE-6B48-42C2-BF2B-44A80C450D03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5783A74-D3EB-4384-B447-3A703F209EAC}" type="pres">
      <dgm:prSet presAssocID="{CBA45BB2-DF57-4DB3-814E-157A1672639E}" presName="sibTrans" presStyleLbl="sibTrans1D1" presStyleIdx="1" presStyleCnt="5"/>
      <dgm:spPr/>
      <dgm:t>
        <a:bodyPr/>
        <a:lstStyle/>
        <a:p>
          <a:endParaRPr lang="en-IN"/>
        </a:p>
      </dgm:t>
    </dgm:pt>
    <dgm:pt modelId="{1DBB4F30-00A3-4DF9-A517-9189F6488301}" type="pres">
      <dgm:prSet presAssocID="{CBA45BB2-DF57-4DB3-814E-157A1672639E}" presName="connectorText" presStyleLbl="sibTrans1D1" presStyleIdx="1" presStyleCnt="5"/>
      <dgm:spPr/>
      <dgm:t>
        <a:bodyPr/>
        <a:lstStyle/>
        <a:p>
          <a:endParaRPr lang="en-IN"/>
        </a:p>
      </dgm:t>
    </dgm:pt>
    <dgm:pt modelId="{1664EA5E-1D6E-4644-A3FD-DEBFCC438F21}" type="pres">
      <dgm:prSet presAssocID="{B8427850-986D-4739-AF8D-3E5878DDA68A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551C7F7-28B9-4BAD-A0D4-C2571FDD1078}" type="pres">
      <dgm:prSet presAssocID="{7B0EA66C-C5A6-49F0-9ED9-3730A6991521}" presName="sibTrans" presStyleLbl="sibTrans1D1" presStyleIdx="2" presStyleCnt="5"/>
      <dgm:spPr/>
      <dgm:t>
        <a:bodyPr/>
        <a:lstStyle/>
        <a:p>
          <a:endParaRPr lang="en-IN"/>
        </a:p>
      </dgm:t>
    </dgm:pt>
    <dgm:pt modelId="{013BE88D-FC08-40D0-8026-EDEEB5333A1C}" type="pres">
      <dgm:prSet presAssocID="{7B0EA66C-C5A6-49F0-9ED9-3730A6991521}" presName="connectorText" presStyleLbl="sibTrans1D1" presStyleIdx="2" presStyleCnt="5"/>
      <dgm:spPr/>
      <dgm:t>
        <a:bodyPr/>
        <a:lstStyle/>
        <a:p>
          <a:endParaRPr lang="en-IN"/>
        </a:p>
      </dgm:t>
    </dgm:pt>
    <dgm:pt modelId="{9FEEC9A9-A0E6-4ACD-9DF6-A7F9706C922F}" type="pres">
      <dgm:prSet presAssocID="{976BD65C-1D2F-4316-A36B-543AA8C927D4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50733B2-259D-4E09-80EC-9CF7887789BD}" type="pres">
      <dgm:prSet presAssocID="{BD7FAAD0-202C-4205-B6F1-CC9B50E95EF1}" presName="sibTrans" presStyleLbl="sibTrans1D1" presStyleIdx="3" presStyleCnt="5"/>
      <dgm:spPr/>
      <dgm:t>
        <a:bodyPr/>
        <a:lstStyle/>
        <a:p>
          <a:endParaRPr lang="en-IN"/>
        </a:p>
      </dgm:t>
    </dgm:pt>
    <dgm:pt modelId="{4F2C1E64-157F-4576-BE79-F0F6D2A11AC0}" type="pres">
      <dgm:prSet presAssocID="{BD7FAAD0-202C-4205-B6F1-CC9B50E95EF1}" presName="connectorText" presStyleLbl="sibTrans1D1" presStyleIdx="3" presStyleCnt="5"/>
      <dgm:spPr/>
      <dgm:t>
        <a:bodyPr/>
        <a:lstStyle/>
        <a:p>
          <a:endParaRPr lang="en-IN"/>
        </a:p>
      </dgm:t>
    </dgm:pt>
    <dgm:pt modelId="{1E801504-6858-4E22-A05B-73761FFC2EF7}" type="pres">
      <dgm:prSet presAssocID="{F30FF063-0FAD-4670-AFC5-AF1D8EC4B740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0CB331F-2281-4D63-9C84-63EB5329C54C}" type="pres">
      <dgm:prSet presAssocID="{F4362B8D-6256-4F87-82BC-A8ABD72E4571}" presName="sibTrans" presStyleLbl="sibTrans1D1" presStyleIdx="4" presStyleCnt="5"/>
      <dgm:spPr/>
      <dgm:t>
        <a:bodyPr/>
        <a:lstStyle/>
        <a:p>
          <a:endParaRPr lang="en-IN"/>
        </a:p>
      </dgm:t>
    </dgm:pt>
    <dgm:pt modelId="{F70A74E1-2F85-4DC4-A7F8-EF883FAF7BDF}" type="pres">
      <dgm:prSet presAssocID="{F4362B8D-6256-4F87-82BC-A8ABD72E4571}" presName="connectorText" presStyleLbl="sibTrans1D1" presStyleIdx="4" presStyleCnt="5"/>
      <dgm:spPr/>
      <dgm:t>
        <a:bodyPr/>
        <a:lstStyle/>
        <a:p>
          <a:endParaRPr lang="en-IN"/>
        </a:p>
      </dgm:t>
    </dgm:pt>
    <dgm:pt modelId="{8B1E1673-0CFB-434C-A9DF-857C78D71C96}" type="pres">
      <dgm:prSet presAssocID="{6B11070A-1D40-4589-979E-9B175CB74A9A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FC9D8845-017F-43EC-A091-5B5AA7462624}" type="presOf" srcId="{976BD65C-1D2F-4316-A36B-543AA8C927D4}" destId="{9FEEC9A9-A0E6-4ACD-9DF6-A7F9706C922F}" srcOrd="0" destOrd="0" presId="urn:microsoft.com/office/officeart/2005/8/layout/bProcess3"/>
    <dgm:cxn modelId="{DA0981F7-B084-4A7A-A98B-4CD6874BB99D}" srcId="{AB9AC735-08E3-4DC6-8702-892EE7A4B072}" destId="{6B11070A-1D40-4589-979E-9B175CB74A9A}" srcOrd="5" destOrd="0" parTransId="{55EEF641-00E1-4FF7-8E01-CCB95F58CBF1}" sibTransId="{68E440D0-3473-422F-B6E2-79A7C8CEBACE}"/>
    <dgm:cxn modelId="{9F3AE780-0B72-4335-9FC6-7A48CD86088C}" type="presOf" srcId="{CBA45BB2-DF57-4DB3-814E-157A1672639E}" destId="{1DBB4F30-00A3-4DF9-A517-9189F6488301}" srcOrd="1" destOrd="0" presId="urn:microsoft.com/office/officeart/2005/8/layout/bProcess3"/>
    <dgm:cxn modelId="{0891B293-C716-4D3B-9671-3B2D4D73AF4A}" type="presOf" srcId="{B8427850-986D-4739-AF8D-3E5878DDA68A}" destId="{1664EA5E-1D6E-4644-A3FD-DEBFCC438F21}" srcOrd="0" destOrd="0" presId="urn:microsoft.com/office/officeart/2005/8/layout/bProcess3"/>
    <dgm:cxn modelId="{C7665878-6515-49D9-9FA9-C94C5B9257FB}" type="presOf" srcId="{6B11070A-1D40-4589-979E-9B175CB74A9A}" destId="{8B1E1673-0CFB-434C-A9DF-857C78D71C96}" srcOrd="0" destOrd="0" presId="urn:microsoft.com/office/officeart/2005/8/layout/bProcess3"/>
    <dgm:cxn modelId="{30E537BB-0A15-4226-9DC5-D140E2D058AB}" type="presOf" srcId="{F4362B8D-6256-4F87-82BC-A8ABD72E4571}" destId="{D0CB331F-2281-4D63-9C84-63EB5329C54C}" srcOrd="0" destOrd="0" presId="urn:microsoft.com/office/officeart/2005/8/layout/bProcess3"/>
    <dgm:cxn modelId="{5F239AA1-9949-4FD2-8A56-D1EC4BEDA787}" type="presOf" srcId="{BD7FAAD0-202C-4205-B6F1-CC9B50E95EF1}" destId="{4F2C1E64-157F-4576-BE79-F0F6D2A11AC0}" srcOrd="1" destOrd="0" presId="urn:microsoft.com/office/officeart/2005/8/layout/bProcess3"/>
    <dgm:cxn modelId="{423CBC49-D056-49BA-9F4E-3A775EFEA87F}" type="presOf" srcId="{BD7FAAD0-202C-4205-B6F1-CC9B50E95EF1}" destId="{950733B2-259D-4E09-80EC-9CF7887789BD}" srcOrd="0" destOrd="0" presId="urn:microsoft.com/office/officeart/2005/8/layout/bProcess3"/>
    <dgm:cxn modelId="{B3C19670-23CB-42D4-BBBF-9DFB8D1A9512}" type="presOf" srcId="{F37C0496-95B2-4E02-B171-1B18F04C335F}" destId="{8F1951CF-D0EA-4FF7-AE38-89B2401DE8AE}" srcOrd="1" destOrd="0" presId="urn:microsoft.com/office/officeart/2005/8/layout/bProcess3"/>
    <dgm:cxn modelId="{56CAFC0A-6959-43FA-87B3-789D28778A99}" type="presOf" srcId="{F37C0496-95B2-4E02-B171-1B18F04C335F}" destId="{096121FF-9C0C-4C90-BD50-0A7853AFA79A}" srcOrd="0" destOrd="0" presId="urn:microsoft.com/office/officeart/2005/8/layout/bProcess3"/>
    <dgm:cxn modelId="{C233C47C-85BA-45E0-91A9-6BE345C36444}" srcId="{AB9AC735-08E3-4DC6-8702-892EE7A4B072}" destId="{0BD153BE-6B48-42C2-BF2B-44A80C450D03}" srcOrd="1" destOrd="0" parTransId="{5B2B3569-C68C-47C9-B09E-63850EEA8804}" sibTransId="{CBA45BB2-DF57-4DB3-814E-157A1672639E}"/>
    <dgm:cxn modelId="{23C5CA83-5204-4A7B-9468-7FC8F006F8E5}" type="presOf" srcId="{F30FF063-0FAD-4670-AFC5-AF1D8EC4B740}" destId="{1E801504-6858-4E22-A05B-73761FFC2EF7}" srcOrd="0" destOrd="0" presId="urn:microsoft.com/office/officeart/2005/8/layout/bProcess3"/>
    <dgm:cxn modelId="{B9E5AA6C-A0E2-48F0-A9EC-D7E00F4DD0D0}" srcId="{AB9AC735-08E3-4DC6-8702-892EE7A4B072}" destId="{B8427850-986D-4739-AF8D-3E5878DDA68A}" srcOrd="2" destOrd="0" parTransId="{E8DA4BD6-561C-45E8-AD10-98F49EFE3B22}" sibTransId="{7B0EA66C-C5A6-49F0-9ED9-3730A6991521}"/>
    <dgm:cxn modelId="{5FA52BA6-76B1-4DE0-AD4A-D37B0F4657ED}" type="presOf" srcId="{60E9FF69-569F-4B69-9849-6D46C10B2331}" destId="{6713F287-923A-4167-842E-E3C65400C220}" srcOrd="0" destOrd="0" presId="urn:microsoft.com/office/officeart/2005/8/layout/bProcess3"/>
    <dgm:cxn modelId="{CD994675-5BDA-4D9E-914D-A5AC69BC9336}" srcId="{AB9AC735-08E3-4DC6-8702-892EE7A4B072}" destId="{60E9FF69-569F-4B69-9849-6D46C10B2331}" srcOrd="0" destOrd="0" parTransId="{3CF62C66-F4FD-470E-9F0D-E711519475C5}" sibTransId="{F37C0496-95B2-4E02-B171-1B18F04C335F}"/>
    <dgm:cxn modelId="{E9FCF220-6DA3-423D-B25B-1581E6B25C77}" type="presOf" srcId="{0BD153BE-6B48-42C2-BF2B-44A80C450D03}" destId="{6BC00B8F-DE18-458E-95DB-98A877655F7B}" srcOrd="0" destOrd="0" presId="urn:microsoft.com/office/officeart/2005/8/layout/bProcess3"/>
    <dgm:cxn modelId="{ADE5FD36-7EC8-47D3-AF58-5E4FB1D86A59}" srcId="{AB9AC735-08E3-4DC6-8702-892EE7A4B072}" destId="{976BD65C-1D2F-4316-A36B-543AA8C927D4}" srcOrd="3" destOrd="0" parTransId="{872E7B1A-1213-430E-A725-95CE2B99296A}" sibTransId="{BD7FAAD0-202C-4205-B6F1-CC9B50E95EF1}"/>
    <dgm:cxn modelId="{63D2B8D9-F776-4A48-9B11-7D65A1FA6BE2}" type="presOf" srcId="{CBA45BB2-DF57-4DB3-814E-157A1672639E}" destId="{25783A74-D3EB-4384-B447-3A703F209EAC}" srcOrd="0" destOrd="0" presId="urn:microsoft.com/office/officeart/2005/8/layout/bProcess3"/>
    <dgm:cxn modelId="{3C10B7FD-6D11-4E74-836B-7CE8CE8F7A8F}" type="presOf" srcId="{7B0EA66C-C5A6-49F0-9ED9-3730A6991521}" destId="{013BE88D-FC08-40D0-8026-EDEEB5333A1C}" srcOrd="1" destOrd="0" presId="urn:microsoft.com/office/officeart/2005/8/layout/bProcess3"/>
    <dgm:cxn modelId="{89B5573D-C09A-43DA-BBD1-D9C2842E2443}" srcId="{AB9AC735-08E3-4DC6-8702-892EE7A4B072}" destId="{F30FF063-0FAD-4670-AFC5-AF1D8EC4B740}" srcOrd="4" destOrd="0" parTransId="{C7961122-DF3A-4944-9790-03534E960D79}" sibTransId="{F4362B8D-6256-4F87-82BC-A8ABD72E4571}"/>
    <dgm:cxn modelId="{2FA460CB-2ACD-4D7C-9C4A-7050F73938BD}" type="presOf" srcId="{F4362B8D-6256-4F87-82BC-A8ABD72E4571}" destId="{F70A74E1-2F85-4DC4-A7F8-EF883FAF7BDF}" srcOrd="1" destOrd="0" presId="urn:microsoft.com/office/officeart/2005/8/layout/bProcess3"/>
    <dgm:cxn modelId="{AE634CED-83D7-4754-9FB0-08D6481BA2FD}" type="presOf" srcId="{7B0EA66C-C5A6-49F0-9ED9-3730A6991521}" destId="{6551C7F7-28B9-4BAD-A0D4-C2571FDD1078}" srcOrd="0" destOrd="0" presId="urn:microsoft.com/office/officeart/2005/8/layout/bProcess3"/>
    <dgm:cxn modelId="{94D0E4C8-CDAF-492A-868D-44BE499A7579}" type="presOf" srcId="{AB9AC735-08E3-4DC6-8702-892EE7A4B072}" destId="{965CF91D-C262-46BD-9541-706FEBC0298A}" srcOrd="0" destOrd="0" presId="urn:microsoft.com/office/officeart/2005/8/layout/bProcess3"/>
    <dgm:cxn modelId="{27B0036A-6B50-4FFD-AED5-7FD2B9689F59}" type="presParOf" srcId="{965CF91D-C262-46BD-9541-706FEBC0298A}" destId="{6713F287-923A-4167-842E-E3C65400C220}" srcOrd="0" destOrd="0" presId="urn:microsoft.com/office/officeart/2005/8/layout/bProcess3"/>
    <dgm:cxn modelId="{D48E8C12-8B18-42EA-9417-51ED2F223D62}" type="presParOf" srcId="{965CF91D-C262-46BD-9541-706FEBC0298A}" destId="{096121FF-9C0C-4C90-BD50-0A7853AFA79A}" srcOrd="1" destOrd="0" presId="urn:microsoft.com/office/officeart/2005/8/layout/bProcess3"/>
    <dgm:cxn modelId="{099EB57F-CED4-4421-93DB-E5CAD3C3EB03}" type="presParOf" srcId="{096121FF-9C0C-4C90-BD50-0A7853AFA79A}" destId="{8F1951CF-D0EA-4FF7-AE38-89B2401DE8AE}" srcOrd="0" destOrd="0" presId="urn:microsoft.com/office/officeart/2005/8/layout/bProcess3"/>
    <dgm:cxn modelId="{298E55A7-10B1-48C3-95C4-CFF9EB4DD3B3}" type="presParOf" srcId="{965CF91D-C262-46BD-9541-706FEBC0298A}" destId="{6BC00B8F-DE18-458E-95DB-98A877655F7B}" srcOrd="2" destOrd="0" presId="urn:microsoft.com/office/officeart/2005/8/layout/bProcess3"/>
    <dgm:cxn modelId="{68A02C8C-47B0-4163-AF23-DFE2646D4CA2}" type="presParOf" srcId="{965CF91D-C262-46BD-9541-706FEBC0298A}" destId="{25783A74-D3EB-4384-B447-3A703F209EAC}" srcOrd="3" destOrd="0" presId="urn:microsoft.com/office/officeart/2005/8/layout/bProcess3"/>
    <dgm:cxn modelId="{047E3C01-6D38-43F6-9A4F-EF7511661715}" type="presParOf" srcId="{25783A74-D3EB-4384-B447-3A703F209EAC}" destId="{1DBB4F30-00A3-4DF9-A517-9189F6488301}" srcOrd="0" destOrd="0" presId="urn:microsoft.com/office/officeart/2005/8/layout/bProcess3"/>
    <dgm:cxn modelId="{59DB8EE1-428C-4A29-90F1-EF112B883358}" type="presParOf" srcId="{965CF91D-C262-46BD-9541-706FEBC0298A}" destId="{1664EA5E-1D6E-4644-A3FD-DEBFCC438F21}" srcOrd="4" destOrd="0" presId="urn:microsoft.com/office/officeart/2005/8/layout/bProcess3"/>
    <dgm:cxn modelId="{38FDE736-D128-41AC-B4F4-BFB58ED02A5B}" type="presParOf" srcId="{965CF91D-C262-46BD-9541-706FEBC0298A}" destId="{6551C7F7-28B9-4BAD-A0D4-C2571FDD1078}" srcOrd="5" destOrd="0" presId="urn:microsoft.com/office/officeart/2005/8/layout/bProcess3"/>
    <dgm:cxn modelId="{F1F0F3D2-A8CA-474C-9961-1600C680E79A}" type="presParOf" srcId="{6551C7F7-28B9-4BAD-A0D4-C2571FDD1078}" destId="{013BE88D-FC08-40D0-8026-EDEEB5333A1C}" srcOrd="0" destOrd="0" presId="urn:microsoft.com/office/officeart/2005/8/layout/bProcess3"/>
    <dgm:cxn modelId="{0474CDA9-90EE-4ADE-A4FF-CA63F3AF353C}" type="presParOf" srcId="{965CF91D-C262-46BD-9541-706FEBC0298A}" destId="{9FEEC9A9-A0E6-4ACD-9DF6-A7F9706C922F}" srcOrd="6" destOrd="0" presId="urn:microsoft.com/office/officeart/2005/8/layout/bProcess3"/>
    <dgm:cxn modelId="{B385262A-9F9F-46D9-ABFB-CBF255AEAEFB}" type="presParOf" srcId="{965CF91D-C262-46BD-9541-706FEBC0298A}" destId="{950733B2-259D-4E09-80EC-9CF7887789BD}" srcOrd="7" destOrd="0" presId="urn:microsoft.com/office/officeart/2005/8/layout/bProcess3"/>
    <dgm:cxn modelId="{03A27E2D-CEC6-4743-9694-5BC8DD9E676F}" type="presParOf" srcId="{950733B2-259D-4E09-80EC-9CF7887789BD}" destId="{4F2C1E64-157F-4576-BE79-F0F6D2A11AC0}" srcOrd="0" destOrd="0" presId="urn:microsoft.com/office/officeart/2005/8/layout/bProcess3"/>
    <dgm:cxn modelId="{E8DCBFB2-EAD7-4E9D-A891-52ECD4D186AE}" type="presParOf" srcId="{965CF91D-C262-46BD-9541-706FEBC0298A}" destId="{1E801504-6858-4E22-A05B-73761FFC2EF7}" srcOrd="8" destOrd="0" presId="urn:microsoft.com/office/officeart/2005/8/layout/bProcess3"/>
    <dgm:cxn modelId="{50BACF13-CAB6-4E43-BC49-8F454036C5DB}" type="presParOf" srcId="{965CF91D-C262-46BD-9541-706FEBC0298A}" destId="{D0CB331F-2281-4D63-9C84-63EB5329C54C}" srcOrd="9" destOrd="0" presId="urn:microsoft.com/office/officeart/2005/8/layout/bProcess3"/>
    <dgm:cxn modelId="{C4FAF15D-D250-428C-A894-F913A7502A8F}" type="presParOf" srcId="{D0CB331F-2281-4D63-9C84-63EB5329C54C}" destId="{F70A74E1-2F85-4DC4-A7F8-EF883FAF7BDF}" srcOrd="0" destOrd="0" presId="urn:microsoft.com/office/officeart/2005/8/layout/bProcess3"/>
    <dgm:cxn modelId="{2BCA4BDE-B5A6-449E-9A2F-413D0A29C046}" type="presParOf" srcId="{965CF91D-C262-46BD-9541-706FEBC0298A}" destId="{8B1E1673-0CFB-434C-A9DF-857C78D71C96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6121FF-9C0C-4C90-BD50-0A7853AFA79A}">
      <dsp:nvSpPr>
        <dsp:cNvPr id="0" name=""/>
        <dsp:cNvSpPr/>
      </dsp:nvSpPr>
      <dsp:spPr>
        <a:xfrm>
          <a:off x="2832063" y="681240"/>
          <a:ext cx="5240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4016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b="0" kern="1200"/>
        </a:p>
      </dsp:txBody>
      <dsp:txXfrm>
        <a:off x="3080205" y="724185"/>
        <a:ext cx="27730" cy="5551"/>
      </dsp:txXfrm>
    </dsp:sp>
    <dsp:sp modelId="{6713F287-923A-4167-842E-E3C65400C220}">
      <dsp:nvSpPr>
        <dsp:cNvPr id="0" name=""/>
        <dsp:cNvSpPr/>
      </dsp:nvSpPr>
      <dsp:spPr>
        <a:xfrm>
          <a:off x="422488" y="3548"/>
          <a:ext cx="2411375" cy="14468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Data Collection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Collects posts, comments , </a:t>
          </a:r>
          <a:r>
            <a:rPr lang="en-US" sz="16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hastags</a:t>
          </a:r>
          <a:r>
            <a:rPr 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and relevant data</a:t>
          </a:r>
          <a:endParaRPr lang="en-IN" sz="16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2488" y="3548"/>
        <a:ext cx="2411375" cy="1446825"/>
      </dsp:txXfrm>
    </dsp:sp>
    <dsp:sp modelId="{25783A74-D3EB-4384-B447-3A703F209EAC}">
      <dsp:nvSpPr>
        <dsp:cNvPr id="0" name=""/>
        <dsp:cNvSpPr/>
      </dsp:nvSpPr>
      <dsp:spPr>
        <a:xfrm>
          <a:off x="5798054" y="681240"/>
          <a:ext cx="5240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4016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6046197" y="724185"/>
        <a:ext cx="27730" cy="5551"/>
      </dsp:txXfrm>
    </dsp:sp>
    <dsp:sp modelId="{6BC00B8F-DE18-458E-95DB-98A877655F7B}">
      <dsp:nvSpPr>
        <dsp:cNvPr id="0" name=""/>
        <dsp:cNvSpPr/>
      </dsp:nvSpPr>
      <dsp:spPr>
        <a:xfrm>
          <a:off x="3388479" y="3548"/>
          <a:ext cx="2411375" cy="144682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6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Preprocessing</a:t>
          </a:r>
          <a:br>
            <a:rPr lang="en-IN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br>
            <a:rPr lang="en-IN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clean and normalise the collected data</a:t>
          </a:r>
          <a:br>
            <a:rPr lang="en-IN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br>
            <a:rPr lang="en-IN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6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88479" y="3548"/>
        <a:ext cx="2411375" cy="1446825"/>
      </dsp:txXfrm>
    </dsp:sp>
    <dsp:sp modelId="{6551C7F7-28B9-4BAD-A0D4-C2571FDD1078}">
      <dsp:nvSpPr>
        <dsp:cNvPr id="0" name=""/>
        <dsp:cNvSpPr/>
      </dsp:nvSpPr>
      <dsp:spPr>
        <a:xfrm>
          <a:off x="1628175" y="1448573"/>
          <a:ext cx="5931982" cy="524016"/>
        </a:xfrm>
        <a:custGeom>
          <a:avLst/>
          <a:gdLst/>
          <a:ahLst/>
          <a:cxnLst/>
          <a:rect l="0" t="0" r="0" b="0"/>
          <a:pathLst>
            <a:path>
              <a:moveTo>
                <a:pt x="5931982" y="0"/>
              </a:moveTo>
              <a:lnTo>
                <a:pt x="5931982" y="279108"/>
              </a:lnTo>
              <a:lnTo>
                <a:pt x="0" y="279108"/>
              </a:lnTo>
              <a:lnTo>
                <a:pt x="0" y="524016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4445220" y="1707805"/>
        <a:ext cx="297892" cy="5551"/>
      </dsp:txXfrm>
    </dsp:sp>
    <dsp:sp modelId="{1664EA5E-1D6E-4644-A3FD-DEBFCC438F21}">
      <dsp:nvSpPr>
        <dsp:cNvPr id="0" name=""/>
        <dsp:cNvSpPr/>
      </dsp:nvSpPr>
      <dsp:spPr>
        <a:xfrm>
          <a:off x="6354470" y="3548"/>
          <a:ext cx="2411375" cy="144682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Big data processing</a:t>
          </a:r>
          <a:b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b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process large scale dataset using apache spark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354470" y="3548"/>
        <a:ext cx="2411375" cy="1446825"/>
      </dsp:txXfrm>
    </dsp:sp>
    <dsp:sp modelId="{950733B2-259D-4E09-80EC-9CF7887789BD}">
      <dsp:nvSpPr>
        <dsp:cNvPr id="0" name=""/>
        <dsp:cNvSpPr/>
      </dsp:nvSpPr>
      <dsp:spPr>
        <a:xfrm>
          <a:off x="2832063" y="2682682"/>
          <a:ext cx="5240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4016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3080205" y="2725626"/>
        <a:ext cx="27730" cy="5551"/>
      </dsp:txXfrm>
    </dsp:sp>
    <dsp:sp modelId="{9FEEC9A9-A0E6-4ACD-9DF6-A7F9706C922F}">
      <dsp:nvSpPr>
        <dsp:cNvPr id="0" name=""/>
        <dsp:cNvSpPr/>
      </dsp:nvSpPr>
      <dsp:spPr>
        <a:xfrm>
          <a:off x="422488" y="2004989"/>
          <a:ext cx="2411375" cy="144682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Sentiment Analysis</a:t>
          </a:r>
          <a:br>
            <a:rPr 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br>
            <a:rPr 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Apply NLP techniques to classify text as Positive, Negative, Neutral</a:t>
          </a:r>
          <a:endParaRPr lang="en-IN" sz="16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2488" y="2004989"/>
        <a:ext cx="2411375" cy="1446825"/>
      </dsp:txXfrm>
    </dsp:sp>
    <dsp:sp modelId="{D0CB331F-2281-4D63-9C84-63EB5329C54C}">
      <dsp:nvSpPr>
        <dsp:cNvPr id="0" name=""/>
        <dsp:cNvSpPr/>
      </dsp:nvSpPr>
      <dsp:spPr>
        <a:xfrm>
          <a:off x="5798054" y="2682682"/>
          <a:ext cx="5240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4016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6046197" y="2725626"/>
        <a:ext cx="27730" cy="5551"/>
      </dsp:txXfrm>
    </dsp:sp>
    <dsp:sp modelId="{1E801504-6858-4E22-A05B-73761FFC2EF7}">
      <dsp:nvSpPr>
        <dsp:cNvPr id="0" name=""/>
        <dsp:cNvSpPr/>
      </dsp:nvSpPr>
      <dsp:spPr>
        <a:xfrm>
          <a:off x="3388479" y="2004989"/>
          <a:ext cx="2411375" cy="144682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Aggregation</a:t>
          </a:r>
          <a:b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b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Calculate Sentiment counts, percentage, trends, and keywords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88479" y="2004989"/>
        <a:ext cx="2411375" cy="1446825"/>
      </dsp:txXfrm>
    </dsp:sp>
    <dsp:sp modelId="{8B1E1673-0CFB-434C-A9DF-857C78D71C96}">
      <dsp:nvSpPr>
        <dsp:cNvPr id="0" name=""/>
        <dsp:cNvSpPr/>
      </dsp:nvSpPr>
      <dsp:spPr>
        <a:xfrm>
          <a:off x="6354470" y="2004989"/>
          <a:ext cx="2411375" cy="14468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Visualisation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b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b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Present the processed insights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354470" y="2004989"/>
        <a:ext cx="2411375" cy="14468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3431-C1D6-448A-A42C-82F12CB11E92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AD127-10F6-433B-81D3-8DCA032DF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018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3431-C1D6-448A-A42C-82F12CB11E92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AD127-10F6-433B-81D3-8DCA032DF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945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3431-C1D6-448A-A42C-82F12CB11E92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AD127-10F6-433B-81D3-8DCA032DF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783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3431-C1D6-448A-A42C-82F12CB11E92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AD127-10F6-433B-81D3-8DCA032DF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399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3431-C1D6-448A-A42C-82F12CB11E92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AD127-10F6-433B-81D3-8DCA032DF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947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3431-C1D6-448A-A42C-82F12CB11E92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AD127-10F6-433B-81D3-8DCA032DF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199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3431-C1D6-448A-A42C-82F12CB11E92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AD127-10F6-433B-81D3-8DCA032DF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265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3431-C1D6-448A-A42C-82F12CB11E92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AD127-10F6-433B-81D3-8DCA032DF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502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3431-C1D6-448A-A42C-82F12CB11E92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AD127-10F6-433B-81D3-8DCA032DF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451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3431-C1D6-448A-A42C-82F12CB11E92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AD127-10F6-433B-81D3-8DCA032DF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021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3431-C1D6-448A-A42C-82F12CB11E92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AD127-10F6-433B-81D3-8DCA032DF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822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93431-C1D6-448A-A42C-82F12CB11E92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5AD127-10F6-433B-81D3-8DCA032DF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962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3;p13" descr="SIMATS ENGINEERING —Profil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6473" y="393240"/>
            <a:ext cx="10693861" cy="10887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852621" y="1964821"/>
            <a:ext cx="10804561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Data-Based Social Media Sentiment </a:t>
            </a:r>
          </a:p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Platform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24340" y="5025242"/>
            <a:ext cx="40547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Atmakuri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Mrudula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(192372087)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Kanmani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L(192511414)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G.Hima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Bindu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(192511377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711201" y="5111529"/>
            <a:ext cx="2549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Dr.P.Rajaram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A6DE17E-C158-AF6E-2273-71FBADA1E4DA}"/>
              </a:ext>
            </a:extLst>
          </p:cNvPr>
          <p:cNvSpPr txBox="1"/>
          <p:nvPr/>
        </p:nvSpPr>
        <p:spPr>
          <a:xfrm>
            <a:off x="1243182" y="3538175"/>
            <a:ext cx="1041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CSA1522- CLOUD COMPUTING AND BIG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3425259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3;p13" descr="SIMATS ENGINEERING —Profil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6473" y="393240"/>
            <a:ext cx="10693861" cy="108878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1131627" y="1673433"/>
            <a:ext cx="10002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697932" y="2258208"/>
            <a:ext cx="9722543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platforms generate large volumes of unstructured data through posts, comments, hashtags, and other user-generated content.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Analyzing such large-scale data manually is time-consuming and inefficient.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Big Data technologies enable efficient processing of large volumes of social media data.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 is used to analyze textual content and identify user sentiment.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classifies social media content into Positive, Negative, and Neutral categories.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analyzed results are presented through a cloud-based visualization dashboard to identify sentiment patterns and trends. </a:t>
            </a:r>
          </a:p>
        </p:txBody>
      </p:sp>
    </p:spTree>
    <p:extLst>
      <p:ext uri="{BB962C8B-B14F-4D97-AF65-F5344CB8AC3E}">
        <p14:creationId xmlns:p14="http://schemas.microsoft.com/office/powerpoint/2010/main" val="3332080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3;p13" descr="SIMATS ENGINEERING —Profil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6473" y="393240"/>
            <a:ext cx="10693861" cy="108878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628361" y="1606924"/>
            <a:ext cx="11443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 rot="10800000" flipV="1">
            <a:off x="526473" y="1992619"/>
            <a:ext cx="768667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platforms generate massive volumes of unstructured data every day.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Manually analyzing large-scale social media data is time-consuming and inefficient.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need to identify public opinions and emerging trends quickly.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may face challenges in storing and processing large datasets efficiently.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scalable solution is required to automate sentiment analysis and extract meaningful insights from social media data.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945" y="2638425"/>
            <a:ext cx="3419475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01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3;p13" descr="SIMATS ENGINEERING —Profil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6473" y="373242"/>
            <a:ext cx="10693861" cy="10887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526473" y="1780113"/>
            <a:ext cx="11443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 rot="10800000" flipV="1">
            <a:off x="1857518" y="2336593"/>
            <a:ext cx="898553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collect large volumes of social media data efficiently.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preprocess and clean unstructured social media text.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perform sentiment classification using Natural Language Processing (NLP).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utilize Apache Spark and Big Data technologies for efficient large-scale data processing.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sentiment patterns and trends from analyzed data.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present meaningful insights through an interactive cloud-based visualization dashboard.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scalable end-to-end sentiment analytics platform. </a:t>
            </a:r>
          </a:p>
        </p:txBody>
      </p:sp>
    </p:spTree>
    <p:extLst>
      <p:ext uri="{BB962C8B-B14F-4D97-AF65-F5344CB8AC3E}">
        <p14:creationId xmlns:p14="http://schemas.microsoft.com/office/powerpoint/2010/main" val="3606602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3;p13" descr="SIMATS ENGINEERING —Profil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6473" y="373242"/>
            <a:ext cx="10693861" cy="108878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526473" y="1462031"/>
            <a:ext cx="11443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397262"/>
              </p:ext>
            </p:extLst>
          </p:nvPr>
        </p:nvGraphicFramePr>
        <p:xfrm>
          <a:off x="775852" y="2046806"/>
          <a:ext cx="10704948" cy="46635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4158"/>
                <a:gridCol w="1784158"/>
                <a:gridCol w="1784158"/>
                <a:gridCol w="1784158"/>
                <a:gridCol w="1784158"/>
                <a:gridCol w="1784158"/>
              </a:tblGrid>
              <a:tr h="385347">
                <a:tc>
                  <a:txBody>
                    <a:bodyPr/>
                    <a:lstStyle/>
                    <a:p>
                      <a:pPr algn="ctr"/>
                      <a:endParaRPr lang="en-IN" sz="1000" b="1" dirty="0" smtClean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/>
                      <a:r>
                        <a:rPr lang="en-IN" sz="1000" b="1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Paper / Research</a:t>
                      </a:r>
                      <a:endParaRPr lang="en-IN" sz="1000" b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Research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Limitation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Gap Addressed by Our Project</a:t>
                      </a:r>
                    </a:p>
                  </a:txBody>
                  <a:tcPr anchor="ctr"/>
                </a:tc>
              </a:tr>
              <a:tr h="866912">
                <a:tc>
                  <a:txBody>
                    <a:bodyPr/>
                    <a:lstStyle/>
                    <a:p>
                      <a:r>
                        <a:rPr lang="en-US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Role of Large-Scale Data Analytics Risk Information Systems in Addressing Social Disruptions in Infrastructure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Big-data analytics for social disruptions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 b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Large-scale data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 b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Infrastructure-specific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Applies analytics to general social-media sentiment</a:t>
                      </a:r>
                    </a:p>
                  </a:txBody>
                  <a:tcPr anchor="ctr"/>
                </a:tc>
              </a:tr>
              <a:tr h="947662">
                <a:tc>
                  <a:txBody>
                    <a:bodyPr/>
                    <a:lstStyle/>
                    <a:p>
                      <a:r>
                        <a:rPr lang="en-US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AI Sentiment Analysis-Based Brand Reputation Management Strategy in Responding to Social and Ethical Issues on Social Media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Brand reputation and social-media sentiment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 b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AI-based sentiment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 b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Focused on brand reputation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Provides broader sentiment analytics across topics</a:t>
                      </a:r>
                    </a:p>
                  </a:txBody>
                  <a:tcPr anchor="ctr"/>
                </a:tc>
              </a:tr>
              <a:tr h="947662">
                <a:tc>
                  <a:txBody>
                    <a:bodyPr/>
                    <a:lstStyle/>
                    <a:p>
                      <a:r>
                        <a:rPr lang="en-US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Scalable Vortex Search-Tuned Intelligent Adaptive Boosting for Sentiment Analysis of Social Media Data Using Natural Language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Scalable social-media sentiment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NLP + Adaptive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Mainly focuses on model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Combines NLP with big-data processing and visualization</a:t>
                      </a:r>
                    </a:p>
                  </a:txBody>
                  <a:tcPr anchor="ctr"/>
                </a:tc>
              </a:tr>
              <a:tr h="660492">
                <a:tc>
                  <a:txBody>
                    <a:bodyPr/>
                    <a:lstStyle/>
                    <a:p>
                      <a:r>
                        <a:rPr lang="en-US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Deep Learning Approaches to Sentiment Analysis and Text Classification in Social Media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Sentiment and text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Deep learning + NLP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Computationally intensive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Provides a scalable end-to-end analytics platform</a:t>
                      </a:r>
                    </a:p>
                  </a:txBody>
                  <a:tcPr anchor="ctr"/>
                </a:tc>
              </a:tr>
              <a:tr h="804077">
                <a:tc>
                  <a:txBody>
                    <a:bodyPr/>
                    <a:lstStyle/>
                    <a:p>
                      <a:r>
                        <a:rPr lang="en-US" sz="1000" b="0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Integrating Sentiment Analysis and Reinforcement Learning for Equitable Disaster Response: A Novel Approach</a:t>
                      </a:r>
                      <a:endParaRPr 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Sentiment analysis for disaster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Sentiment analysis + reinforcement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Limited to disaster-response scenarios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Supports general-purpose social-media sentiment analysis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3754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03;p13" descr="SIMATS ENGINEERING —Profil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6473" y="373243"/>
            <a:ext cx="10693861" cy="108878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151475" y="1660041"/>
            <a:ext cx="11443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744553079"/>
              </p:ext>
            </p:extLst>
          </p:nvPr>
        </p:nvGraphicFramePr>
        <p:xfrm>
          <a:off x="1654233" y="2682969"/>
          <a:ext cx="9188334" cy="3455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3845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3;p13" descr="SIMATS ENGINEERING —Profil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6473" y="373243"/>
            <a:ext cx="10693861" cy="10887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00364" y="1588555"/>
            <a:ext cx="11443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99" t="11043" r="14175" b="19596"/>
          <a:stretch/>
        </p:blipFill>
        <p:spPr>
          <a:xfrm>
            <a:off x="692727" y="2101273"/>
            <a:ext cx="10760364" cy="465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377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3;p13" descr="SIMATS ENGINEERING —Profil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6473" y="393240"/>
            <a:ext cx="10693861" cy="10887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2281382" y="2901807"/>
            <a:ext cx="86821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Social Media Data Collection Module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Sentiment Analysis &amp; Big Data Processing Engine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Cloud-based Visualization Dashboard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0436" y="1754909"/>
            <a:ext cx="10566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MODULES</a:t>
            </a:r>
          </a:p>
          <a:p>
            <a:pPr algn="ctr"/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355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3;p13" descr="SIMATS ENGINEERING —Profil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6473" y="393240"/>
            <a:ext cx="10693861" cy="108878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20436" y="1754909"/>
            <a:ext cx="10566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SOCIAL MEDIA DATA COLLECTION MODULE</a:t>
            </a:r>
          </a:p>
          <a:p>
            <a:pPr algn="ctr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63782" y="2955636"/>
            <a:ext cx="10123054" cy="3666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923636" y="2785960"/>
            <a:ext cx="1090814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social-media posts, comments, hashtags, timestamps, and relevant metadata.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the collected data for further analysis.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the data for Big Data processing and sentiment analysis. 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from available social-media sources/APIs.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and basic cleaning.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of collected data in a structured format. 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Data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Structured Dataset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118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3;p13" descr="SIMATS ENGINEERING —Profil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0436" y="411712"/>
            <a:ext cx="10693861" cy="108878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20436" y="1754909"/>
            <a:ext cx="10566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IMPLEMENTATION</a:t>
            </a:r>
          </a:p>
          <a:p>
            <a:pPr algn="ctr"/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630" y="2486806"/>
            <a:ext cx="9099471" cy="423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585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3;p13" descr="SIMATS ENGINEERING —Profil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6473" y="393240"/>
            <a:ext cx="10693861" cy="1088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03" y="1860427"/>
            <a:ext cx="5725816" cy="476274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6073" y="1860427"/>
            <a:ext cx="5343752" cy="476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706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3;p13" descr="SIMATS ENGINEERING —Profil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6473" y="393240"/>
            <a:ext cx="10693861" cy="108878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20436" y="1754909"/>
            <a:ext cx="10566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SENTIMENT ANALYSIS &amp; BIG DATA PROCESSING ENGINE</a:t>
            </a:r>
          </a:p>
          <a:p>
            <a:pPr algn="ctr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63782" y="2955636"/>
            <a:ext cx="10123054" cy="3666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951346" y="2665395"/>
            <a:ext cx="1090814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Purpose: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Process large volumes of collected social-media text efficiently.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Prepare the data for automated sentiment analysis.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Identify the sentiment expressed in each social-media post. </a:t>
            </a:r>
          </a:p>
          <a:p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Process: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Clean and preprocess the collected text.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Perform tokenization and stop-word removal.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Use Apache Spark for large-scale data processing.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Apply NLP-based sentiment analysis.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Classify posts into Positive, Negative, or Neutral categories. </a:t>
            </a:r>
          </a:p>
          <a:p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Input</a:t>
            </a:r>
          </a:p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Collected &amp; Structured Social Media Data</a:t>
            </a:r>
          </a:p>
          <a:p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Output</a:t>
            </a:r>
          </a:p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Analyzed Sentiment Results </a:t>
            </a:r>
          </a:p>
          <a:p>
            <a:pPr algn="just"/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507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3;p13" descr="SIMATS ENGINEERING —Profil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0436" y="411712"/>
            <a:ext cx="10693861" cy="108878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20436" y="1754909"/>
            <a:ext cx="10566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IMPLEMENTATION</a:t>
            </a:r>
          </a:p>
          <a:p>
            <a:pPr algn="ctr"/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546" y="2277944"/>
            <a:ext cx="9695762" cy="448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370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3;p13" descr="SIMATS ENGINEERING —Profil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6473" y="393240"/>
            <a:ext cx="10693861" cy="108878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20436" y="1754909"/>
            <a:ext cx="10566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3:CLOUD-BASED VISUALIZATION DASHBOARD</a:t>
            </a:r>
          </a:p>
          <a:p>
            <a:pPr algn="ctr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63782" y="2955636"/>
            <a:ext cx="10123054" cy="3666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951346" y="2665395"/>
            <a:ext cx="1090814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Purpose: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Present the </a:t>
            </a:r>
            <a:r>
              <a:rPr lang="en-IN" dirty="0" err="1">
                <a:latin typeface="Times" panose="02020603050405020304" pitchFamily="18" charset="0"/>
                <a:cs typeface="Times" panose="02020603050405020304" pitchFamily="18" charset="0"/>
              </a:rPr>
              <a:t>analyzed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sentiment results through an interactive dashboard.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Provide a clear view of sentiment patterns and trends.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Enable easy interpretation of the </a:t>
            </a:r>
            <a:r>
              <a:rPr lang="en-IN" dirty="0" err="1">
                <a:latin typeface="Times" panose="02020603050405020304" pitchFamily="18" charset="0"/>
                <a:cs typeface="Times" panose="02020603050405020304" pitchFamily="18" charset="0"/>
              </a:rPr>
              <a:t>analyzed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social-media data. </a:t>
            </a:r>
          </a:p>
          <a:p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Process: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Receive </a:t>
            </a:r>
            <a:r>
              <a:rPr lang="en-IN" dirty="0" err="1">
                <a:latin typeface="Times" panose="02020603050405020304" pitchFamily="18" charset="0"/>
                <a:cs typeface="Times" panose="02020603050405020304" pitchFamily="18" charset="0"/>
              </a:rPr>
              <a:t>analyzed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sentiment results from Module 2.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Aggregate sentiment data into meaningful metrics.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Generate charts, graphs, and tables.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Display sentiment distribution, trends, keywords, and hashtags.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Provide an interactive interface for exploring the results. </a:t>
            </a:r>
          </a:p>
          <a:p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Input:</a:t>
            </a:r>
          </a:p>
          <a:p>
            <a:r>
              <a:rPr lang="en-IN" dirty="0" err="1">
                <a:latin typeface="Times" panose="02020603050405020304" pitchFamily="18" charset="0"/>
                <a:cs typeface="Times" panose="02020603050405020304" pitchFamily="18" charset="0"/>
              </a:rPr>
              <a:t>Analyzed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Sentiment Results</a:t>
            </a:r>
          </a:p>
          <a:p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Output:</a:t>
            </a: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Interactive Cloud-Based Dashboard → Sentiment Insights</a:t>
            </a:r>
          </a:p>
          <a:p>
            <a:pPr algn="just"/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017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3;p13" descr="SIMATS ENGINEERING —Profil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0436" y="411712"/>
            <a:ext cx="10693861" cy="108878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20436" y="1754909"/>
            <a:ext cx="10566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IMPLEMENTATION</a:t>
            </a:r>
          </a:p>
          <a:p>
            <a:pPr algn="ctr"/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945" y="2293518"/>
            <a:ext cx="8394964" cy="436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353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08" y="1951922"/>
            <a:ext cx="5852120" cy="4188661"/>
          </a:xfrm>
          <a:prstGeom prst="rect">
            <a:avLst/>
          </a:prstGeom>
        </p:spPr>
      </p:pic>
      <p:pic>
        <p:nvPicPr>
          <p:cNvPr id="3" name="Google Shape;103;p13" descr="SIMATS ENGINEERING —Profi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436" y="411712"/>
            <a:ext cx="10693861" cy="1088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886" y="1951922"/>
            <a:ext cx="5740695" cy="418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441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3;p13" descr="SIMATS ENGINEERING —Profil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0436" y="411712"/>
            <a:ext cx="10693861" cy="10887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847897" y="1620221"/>
            <a:ext cx="10566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 rot="10800000" flipV="1">
            <a:off x="1332046" y="1839968"/>
            <a:ext cx="9408941" cy="4662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platform establishes an end-to-end workflow for collecting, processing, and analyzing social-media data.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social-media text using NLP and Apache Spark and classifies posts into Positive, Negative, and Neutral sentiments.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Big Data processing and sentiment analysis enables scalable analysis of large volumes of social-media content.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cloud-based dashboard presents the analyzed results through interactive charts, graphs, and tables for easier interpretation.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complete implementation will be further evaluated using actual datasets and performance metrics </a:t>
            </a:r>
          </a:p>
        </p:txBody>
      </p:sp>
    </p:spTree>
    <p:extLst>
      <p:ext uri="{BB962C8B-B14F-4D97-AF65-F5344CB8AC3E}">
        <p14:creationId xmlns:p14="http://schemas.microsoft.com/office/powerpoint/2010/main" val="4288475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3;p13" descr="SIMATS ENGINEERING —Profil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0436" y="411712"/>
            <a:ext cx="10693861" cy="10887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875899" y="1734041"/>
            <a:ext cx="10538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LIMITATIONS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460173" y="2026429"/>
            <a:ext cx="9152685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andling large volumes of unstructured social-media data can increase processing and storage requirements.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Noisy text, slang, abbreviations, and informal language can affect sentiment classification.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Sarcasm and context-dependent expressions are difficult for sentiment models to interpret accurately.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Social-media API availability and access restrictions can affect continuous data collection.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accuracy of the analysis depends on the quality and representativeness of the dataset.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initial implementation may be limited to selected social-media platforms and languages. </a:t>
            </a:r>
          </a:p>
        </p:txBody>
      </p:sp>
    </p:spTree>
    <p:extLst>
      <p:ext uri="{BB962C8B-B14F-4D97-AF65-F5344CB8AC3E}">
        <p14:creationId xmlns:p14="http://schemas.microsoft.com/office/powerpoint/2010/main" val="41238817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3;p13" descr="SIMATS ENGINEERING —Profil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0436" y="411712"/>
            <a:ext cx="10693861" cy="10887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875899" y="1734041"/>
            <a:ext cx="10538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6413" y="2552356"/>
            <a:ext cx="98177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Real-time sentiment analysis to monitor social-media opinions and detect sudden changes instantly.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Multilingual and emotion analysis to support regional languages and identify emotions like happiness, anger, and sadness.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AI-based prediction to predict future sentiment trends and public opinion using advanced ML models.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Fake news and misinformation detection to identify misleading content and spam on social-media platforms.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Advanced visualization and alerts to provide interactive dashboards, geographical insights, and real-time notifications.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294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3;p13" descr="SIMATS ENGINEERING —Profil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4378" y="364016"/>
            <a:ext cx="10693861" cy="10887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2632364" y="5775626"/>
            <a:ext cx="7703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9636" y="1764145"/>
            <a:ext cx="55233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348738" y="2286635"/>
            <a:ext cx="9651771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 proposed platform provides an end-to-end solution for social-media sentiment analytics.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NLP-based sentiment analysis classifies social-media content into Positive, Negative, and Neutral categories.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integrates data collection, processing, sentiment analysis, and visualization into a unified platform.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cloud-based dashboard presents sentiment patterns, trends, keywords, and hashtags as meaningful visual insights.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provides a scalable foundation for future real-time and advanced sentiment analytics. </a:t>
            </a:r>
          </a:p>
        </p:txBody>
      </p:sp>
    </p:spTree>
    <p:extLst>
      <p:ext uri="{BB962C8B-B14F-4D97-AF65-F5344CB8AC3E}">
        <p14:creationId xmlns:p14="http://schemas.microsoft.com/office/powerpoint/2010/main" val="1543041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3;p13" descr="SIMATS ENGINEERING —Profil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6473" y="393240"/>
            <a:ext cx="10693861" cy="108878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1625600" y="1569303"/>
            <a:ext cx="88669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7294" y="2128374"/>
            <a:ext cx="10012217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dirty="0">
                <a:latin typeface="Times" panose="02020603050405020304" pitchFamily="18" charset="0"/>
                <a:cs typeface="Times" panose="02020603050405020304" pitchFamily="18" charset="0"/>
              </a:rPr>
              <a:t>1.Khayru, R.K. and </a:t>
            </a:r>
            <a:r>
              <a:rPr lang="en-IN" sz="1400" dirty="0" err="1">
                <a:latin typeface="Times" panose="02020603050405020304" pitchFamily="18" charset="0"/>
                <a:cs typeface="Times" panose="02020603050405020304" pitchFamily="18" charset="0"/>
              </a:rPr>
              <a:t>Qader</a:t>
            </a:r>
            <a:r>
              <a:rPr lang="en-IN" sz="1400" dirty="0">
                <a:latin typeface="Times" panose="02020603050405020304" pitchFamily="18" charset="0"/>
                <a:cs typeface="Times" panose="02020603050405020304" pitchFamily="18" charset="0"/>
              </a:rPr>
              <a:t>, K.S., 2026. Role of Large-Scale Data Analytics Risk Information Systems in Addressing Social Disruptions in Infrastructure Development. Bulletin of Science, Technology and Society, 5(2), pp.101-112</a:t>
            </a:r>
            <a:r>
              <a:rPr lang="en-IN" sz="1400" dirty="0" smtClean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IN" sz="1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1400" dirty="0">
                <a:latin typeface="Times" panose="02020603050405020304" pitchFamily="18" charset="0"/>
                <a:cs typeface="Times" panose="02020603050405020304" pitchFamily="18" charset="0"/>
              </a:rPr>
              <a:t>2.Al Hakim, Y.R. and Irfan, M., 2026. AI Sentiment Analysis-Based Brand Reputation Management Strategy in Responding to Social and Ethical Issues on Social Media. Bulletin of Science, Technology and Society, 5(2), pp.11-128</a:t>
            </a:r>
            <a:r>
              <a:rPr lang="en-IN" sz="1400" dirty="0" smtClean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IN" sz="1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1400" dirty="0">
                <a:latin typeface="Times" panose="02020603050405020304" pitchFamily="18" charset="0"/>
                <a:cs typeface="Times" panose="02020603050405020304" pitchFamily="18" charset="0"/>
              </a:rPr>
              <a:t>3.Ye, F. and Zhao, Z., 2025. Scalable vortex search-tuned intelligent adaptive boosting for sentiment analysis of social media data using natural language processing. Systems and Soft Computing, p.200403</a:t>
            </a:r>
            <a:r>
              <a:rPr lang="en-IN" sz="1400" dirty="0" smtClean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IN" sz="1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1400" dirty="0">
                <a:latin typeface="Times" panose="02020603050405020304" pitchFamily="18" charset="0"/>
                <a:cs typeface="Times" panose="02020603050405020304" pitchFamily="18" charset="0"/>
              </a:rPr>
              <a:t>4.Parveen, S., </a:t>
            </a:r>
            <a:r>
              <a:rPr lang="en-IN" sz="1400" dirty="0" err="1">
                <a:latin typeface="Times" panose="02020603050405020304" pitchFamily="18" charset="0"/>
                <a:cs typeface="Times" panose="02020603050405020304" pitchFamily="18" charset="0"/>
              </a:rPr>
              <a:t>Zaheen</a:t>
            </a:r>
            <a:r>
              <a:rPr lang="en-IN" sz="1400" dirty="0">
                <a:latin typeface="Times" panose="02020603050405020304" pitchFamily="18" charset="0"/>
                <a:cs typeface="Times" panose="02020603050405020304" pitchFamily="18" charset="0"/>
              </a:rPr>
              <a:t>, U. and Khan, S.A., 2026. Deep Learning Approaches to Sentiment Analysis and Text Classification in Social Media Data. The Critical Review of Social Sciences Studies, 4(1), pp.1168-1182</a:t>
            </a:r>
            <a:r>
              <a:rPr lang="en-IN" sz="1400" dirty="0" smtClean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IN" sz="1400" dirty="0" smtClean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400" dirty="0" smtClean="0">
                <a:latin typeface="Times" panose="02020603050405020304" pitchFamily="18" charset="0"/>
                <a:cs typeface="Times" panose="02020603050405020304" pitchFamily="18" charset="0"/>
              </a:rPr>
              <a:t>5.Alqithami</a:t>
            </a:r>
            <a:r>
              <a:rPr lang="en-US" sz="1400" dirty="0">
                <a:latin typeface="Times" panose="02020603050405020304" pitchFamily="18" charset="0"/>
                <a:cs typeface="Times" panose="02020603050405020304" pitchFamily="18" charset="0"/>
              </a:rPr>
              <a:t>, S., 2025. Integrating sentiment analysis and reinforcement learning for equitable disaster response: A novel approach. </a:t>
            </a:r>
            <a:r>
              <a:rPr lang="en-US" sz="1400" i="1" dirty="0">
                <a:latin typeface="Times" panose="02020603050405020304" pitchFamily="18" charset="0"/>
                <a:cs typeface="Times" panose="02020603050405020304" pitchFamily="18" charset="0"/>
              </a:rPr>
              <a:t>Sustainability</a:t>
            </a:r>
            <a:r>
              <a:rPr lang="en-US" sz="1400" dirty="0">
                <a:latin typeface="Times" panose="02020603050405020304" pitchFamily="18" charset="0"/>
                <a:cs typeface="Times" panose="02020603050405020304" pitchFamily="18" charset="0"/>
              </a:rPr>
              <a:t>, </a:t>
            </a:r>
            <a:r>
              <a:rPr lang="en-US" sz="1400" i="1" dirty="0">
                <a:latin typeface="Times" panose="02020603050405020304" pitchFamily="18" charset="0"/>
                <a:cs typeface="Times" panose="02020603050405020304" pitchFamily="18" charset="0"/>
              </a:rPr>
              <a:t>17</a:t>
            </a:r>
            <a:r>
              <a:rPr lang="en-US" sz="1400" dirty="0">
                <a:latin typeface="Times" panose="02020603050405020304" pitchFamily="18" charset="0"/>
                <a:cs typeface="Times" panose="02020603050405020304" pitchFamily="18" charset="0"/>
              </a:rPr>
              <a:t>(3), p.1072.</a:t>
            </a:r>
            <a:endParaRPr lang="en-IN" sz="1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043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4127" y="2798230"/>
            <a:ext cx="88650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Times" panose="02020603050405020304" pitchFamily="18" charset="0"/>
                <a:cs typeface="Times" panose="02020603050405020304" pitchFamily="18" charset="0"/>
              </a:rPr>
              <a:t>THANKYOU</a:t>
            </a:r>
            <a:endParaRPr lang="en-IN" sz="80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3" name="Google Shape;103;p13" descr="SIMATS ENGINEERING —Profil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6473" y="393240"/>
            <a:ext cx="10693861" cy="10887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673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1274</Words>
  <Application>Microsoft Office PowerPoint</Application>
  <PresentationFormat>Widescreen</PresentationFormat>
  <Paragraphs>170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Times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 SAI TECH</dc:creator>
  <cp:lastModifiedBy>SRI SAI TECH</cp:lastModifiedBy>
  <cp:revision>33</cp:revision>
  <dcterms:created xsi:type="dcterms:W3CDTF">2026-08-01T07:57:04Z</dcterms:created>
  <dcterms:modified xsi:type="dcterms:W3CDTF">2026-09-01T02:51:38Z</dcterms:modified>
</cp:coreProperties>
</file>